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37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D96BA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137160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24688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elastic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newsroom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3931920" y="73152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Building an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Newsroom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3931920" y="210312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6B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Multi-Agent Architecture with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96B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A2A, MCP &amp; Elasticsearch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3931920" y="3017520"/>
            <a:ext cx="3657600" cy="0"/>
          </a:xfrm>
          <a:prstGeom prst="line">
            <a:avLst/>
          </a:prstGeom>
          <a:noFill/>
          <a:ln w="25400">
            <a:solidFill>
              <a:srgbClr val="D96BA0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3291840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297680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C3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on GitHub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3931920" y="3657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github.com/elastic/elastic-newsroom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3931920" y="4389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Justin Castilla  ·  April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Agenda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E8CE2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188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40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05840" y="144475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multi-agent?  ·  3 min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40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94767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A2A protocol &amp; agents  ·  4 min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2194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40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245059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Shared tools  ·  3 min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697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40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Elasticsearch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29535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Index, search, semantics  ·  4 min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3200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40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Workflow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34564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Topic → article  ·  3 min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3703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40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 &amp; Lessons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395935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Walkthrough  ·  3 min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4206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40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 &amp; 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446227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min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194560"/>
          </a:xfrm>
          <a:prstGeom prst="rect">
            <a:avLst/>
          </a:prstGeom>
          <a:solidFill>
            <a:srgbClr val="D96BA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Single-LLM chatbots hit quality ceilings. No specialization. Research, writing, and editing are conflated into one step. No traceability of sources or editorial decisions.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4688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Solution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292608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Five specialized AI agents — each with a clear role — coordinated by a News Chief via the A2A protocol.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035040" y="2468880"/>
            <a:ext cx="914400" cy="1097280"/>
          </a:xfrm>
          <a:prstGeom prst="rect">
            <a:avLst/>
          </a:prstGeom>
          <a:solidFill>
            <a:srgbClr val="5AA5DE"/>
          </a:solidFill>
          <a:ln/>
        </p:spPr>
      </p:sp>
      <p:sp>
        <p:nvSpPr>
          <p:cNvPr id="8" name="Text 6"/>
          <p:cNvSpPr/>
          <p:nvPr/>
        </p:nvSpPr>
        <p:spPr>
          <a:xfrm>
            <a:off x="6035040" y="25146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035040" y="31546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086600" y="2468880"/>
            <a:ext cx="914400" cy="1097280"/>
          </a:xfrm>
          <a:prstGeom prst="rect">
            <a:avLst/>
          </a:prstGeom>
          <a:solidFill>
            <a:srgbClr val="6DC3BF"/>
          </a:solidFill>
          <a:ln/>
        </p:spPr>
      </p:sp>
      <p:sp>
        <p:nvSpPr>
          <p:cNvPr id="11" name="Text 9"/>
          <p:cNvSpPr/>
          <p:nvPr/>
        </p:nvSpPr>
        <p:spPr>
          <a:xfrm>
            <a:off x="7086600" y="25146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7086600" y="31546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MCP Tools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138160" y="2468880"/>
            <a:ext cx="914400" cy="1097280"/>
          </a:xfrm>
          <a:prstGeom prst="rect">
            <a:avLst/>
          </a:prstGeom>
          <a:solidFill>
            <a:srgbClr val="3D7FA3"/>
          </a:solidFill>
          <a:ln/>
        </p:spPr>
      </p:sp>
      <p:sp>
        <p:nvSpPr>
          <p:cNvPr id="14" name="Text 12"/>
          <p:cNvSpPr/>
          <p:nvPr/>
        </p:nvSpPr>
        <p:spPr>
          <a:xfrm>
            <a:off x="8138160" y="25146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138160" y="31546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 Modes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40080" y="4023360"/>
            <a:ext cx="7863840" cy="45720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02336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A2A  ·  FastMCP  ·  Tavily  ·  Elasticsearch  ·  Claude  ·  React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 Stack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E8CE2A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88720"/>
            <a:ext cx="2560320" cy="1554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463040"/>
            <a:ext cx="640080" cy="640080"/>
          </a:xfrm>
          <a:prstGeom prst="ellipse">
            <a:avLst/>
          </a:prstGeom>
          <a:solidFill>
            <a:srgbClr val="FCE8F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1572768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3716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A2A Protocol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600200" y="16916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Google's Agent-to-Agent SDK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JSON-RPC communication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1600200" y="2286000"/>
            <a:ext cx="457200" cy="201168"/>
          </a:xfrm>
          <a:prstGeom prst="rect">
            <a:avLst/>
          </a:prstGeom>
          <a:solidFill>
            <a:srgbClr val="93B73A"/>
          </a:solidFill>
          <a:ln/>
        </p:spPr>
      </p:sp>
      <p:sp>
        <p:nvSpPr>
          <p:cNvPr id="10" name="Text 7"/>
          <p:cNvSpPr/>
          <p:nvPr/>
        </p:nvSpPr>
        <p:spPr>
          <a:xfrm>
            <a:off x="1600200" y="228600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OSS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3474720" y="1188720"/>
            <a:ext cx="2560320" cy="1554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9"/>
          <p:cNvSpPr/>
          <p:nvPr/>
        </p:nvSpPr>
        <p:spPr>
          <a:xfrm>
            <a:off x="3657600" y="1463040"/>
            <a:ext cx="640080" cy="640080"/>
          </a:xfrm>
          <a:prstGeom prst="ellipse">
            <a:avLst/>
          </a:prstGeom>
          <a:solidFill>
            <a:srgbClr val="F0F5E4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7328" y="1572768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434840" y="13716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FastMCP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434840" y="16916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Context Protocol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Shared tool registry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434840" y="2286000"/>
            <a:ext cx="457200" cy="201168"/>
          </a:xfrm>
          <a:prstGeom prst="rect">
            <a:avLst/>
          </a:prstGeom>
          <a:solidFill>
            <a:srgbClr val="93B73A"/>
          </a:solidFill>
          <a:ln/>
        </p:spPr>
      </p:sp>
      <p:sp>
        <p:nvSpPr>
          <p:cNvPr id="17" name="Text 13"/>
          <p:cNvSpPr/>
          <p:nvPr/>
        </p:nvSpPr>
        <p:spPr>
          <a:xfrm>
            <a:off x="4434840" y="228600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OSS</a:t>
            </a:r>
            <a:endParaRPr lang="en-US" sz="800" dirty="0"/>
          </a:p>
        </p:txBody>
      </p:sp>
      <p:sp>
        <p:nvSpPr>
          <p:cNvPr id="18" name="Shape 14"/>
          <p:cNvSpPr/>
          <p:nvPr/>
        </p:nvSpPr>
        <p:spPr>
          <a:xfrm>
            <a:off x="6309360" y="1188720"/>
            <a:ext cx="2560320" cy="1554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5"/>
          <p:cNvSpPr/>
          <p:nvPr/>
        </p:nvSpPr>
        <p:spPr>
          <a:xfrm>
            <a:off x="6492240" y="1463040"/>
            <a:ext cx="640080" cy="640080"/>
          </a:xfrm>
          <a:prstGeom prst="ellipse">
            <a:avLst/>
          </a:prstGeom>
          <a:solidFill>
            <a:srgbClr val="FBF8E4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1968" y="1572768"/>
            <a:ext cx="411480" cy="4114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269480" y="13716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Tavily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7269480" y="16916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web search API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research agents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7269480" y="2286000"/>
            <a:ext cx="457200" cy="201168"/>
          </a:xfrm>
          <a:prstGeom prst="rect">
            <a:avLst/>
          </a:prstGeom>
          <a:solidFill>
            <a:srgbClr val="5AA5DE"/>
          </a:solidFill>
          <a:ln/>
        </p:spPr>
      </p:sp>
      <p:sp>
        <p:nvSpPr>
          <p:cNvPr id="24" name="Text 19"/>
          <p:cNvSpPr/>
          <p:nvPr/>
        </p:nvSpPr>
        <p:spPr>
          <a:xfrm>
            <a:off x="7269480" y="228600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</a:t>
            </a:r>
            <a:endParaRPr lang="en-US" sz="800" dirty="0"/>
          </a:p>
        </p:txBody>
      </p:sp>
      <p:sp>
        <p:nvSpPr>
          <p:cNvPr id="25" name="Shape 20"/>
          <p:cNvSpPr/>
          <p:nvPr/>
        </p:nvSpPr>
        <p:spPr>
          <a:xfrm>
            <a:off x="640080" y="3017520"/>
            <a:ext cx="2560320" cy="1554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Shape 21"/>
          <p:cNvSpPr/>
          <p:nvPr/>
        </p:nvSpPr>
        <p:spPr>
          <a:xfrm>
            <a:off x="822960" y="3291840"/>
            <a:ext cx="640080" cy="640080"/>
          </a:xfrm>
          <a:prstGeom prst="ellipse">
            <a:avLst/>
          </a:prstGeom>
          <a:solidFill>
            <a:srgbClr val="E6F5F4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3401568"/>
            <a:ext cx="411480" cy="41148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600200" y="32004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Elasticsearch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1600200" y="35204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Full-text, semantic &amp;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hybrid vector search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1600200" y="4114800"/>
            <a:ext cx="457200" cy="201168"/>
          </a:xfrm>
          <a:prstGeom prst="rect">
            <a:avLst/>
          </a:prstGeom>
          <a:solidFill>
            <a:srgbClr val="3D7FA3"/>
          </a:solidFill>
          <a:ln/>
        </p:spPr>
      </p:sp>
      <p:sp>
        <p:nvSpPr>
          <p:cNvPr id="31" name="Text 25"/>
          <p:cNvSpPr/>
          <p:nvPr/>
        </p:nvSpPr>
        <p:spPr>
          <a:xfrm>
            <a:off x="1600200" y="411480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FREE</a:t>
            </a:r>
            <a:endParaRPr lang="en-US" sz="800" dirty="0"/>
          </a:p>
        </p:txBody>
      </p:sp>
      <p:sp>
        <p:nvSpPr>
          <p:cNvPr id="32" name="Shape 26"/>
          <p:cNvSpPr/>
          <p:nvPr/>
        </p:nvSpPr>
        <p:spPr>
          <a:xfrm>
            <a:off x="3474720" y="3017520"/>
            <a:ext cx="2560320" cy="1554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Shape 27"/>
          <p:cNvSpPr/>
          <p:nvPr/>
        </p:nvSpPr>
        <p:spPr>
          <a:xfrm>
            <a:off x="3657600" y="3291840"/>
            <a:ext cx="640080" cy="640080"/>
          </a:xfrm>
          <a:prstGeom prst="ellipse">
            <a:avLst/>
          </a:prstGeom>
          <a:solidFill>
            <a:srgbClr val="E8F2FC"/>
          </a:solidFill>
          <a:ln/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67328" y="3401568"/>
            <a:ext cx="411480" cy="41148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4434840" y="32004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 API</a:t>
            </a:r>
            <a:endParaRPr lang="en-US" sz="1400" dirty="0"/>
          </a:p>
        </p:txBody>
      </p:sp>
      <p:sp>
        <p:nvSpPr>
          <p:cNvPr id="36" name="Text 29"/>
          <p:cNvSpPr/>
          <p:nvPr/>
        </p:nvSpPr>
        <p:spPr>
          <a:xfrm>
            <a:off x="4434840" y="35204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Anthropic's Claude for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 generation</a:t>
            </a:r>
            <a:endParaRPr lang="en-US" sz="1000" dirty="0"/>
          </a:p>
        </p:txBody>
      </p:sp>
      <p:sp>
        <p:nvSpPr>
          <p:cNvPr id="37" name="Shape 30"/>
          <p:cNvSpPr/>
          <p:nvPr/>
        </p:nvSpPr>
        <p:spPr>
          <a:xfrm>
            <a:off x="4434840" y="4114800"/>
            <a:ext cx="457200" cy="201168"/>
          </a:xfrm>
          <a:prstGeom prst="rect">
            <a:avLst/>
          </a:prstGeom>
          <a:solidFill>
            <a:srgbClr val="5AA5DE"/>
          </a:solidFill>
          <a:ln/>
        </p:spPr>
      </p:sp>
      <p:sp>
        <p:nvSpPr>
          <p:cNvPr id="38" name="Text 31"/>
          <p:cNvSpPr/>
          <p:nvPr/>
        </p:nvSpPr>
        <p:spPr>
          <a:xfrm>
            <a:off x="4434840" y="411480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</a:t>
            </a:r>
            <a:endParaRPr lang="en-US" sz="800" dirty="0"/>
          </a:p>
        </p:txBody>
      </p:sp>
      <p:sp>
        <p:nvSpPr>
          <p:cNvPr id="39" name="Shape 32"/>
          <p:cNvSpPr/>
          <p:nvPr/>
        </p:nvSpPr>
        <p:spPr>
          <a:xfrm>
            <a:off x="6309360" y="3017520"/>
            <a:ext cx="2560320" cy="1554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Shape 33"/>
          <p:cNvSpPr/>
          <p:nvPr/>
        </p:nvSpPr>
        <p:spPr>
          <a:xfrm>
            <a:off x="6492240" y="3291840"/>
            <a:ext cx="640080" cy="640080"/>
          </a:xfrm>
          <a:prstGeom prst="ellipse">
            <a:avLst/>
          </a:prstGeom>
          <a:solidFill>
            <a:srgbClr val="FBF8E4"/>
          </a:solidFill>
          <a:ln/>
        </p:spPr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1968" y="3401568"/>
            <a:ext cx="411480" cy="411480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7269480" y="32004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+ Starlette</a:t>
            </a:r>
            <a:endParaRPr lang="en-US" sz="1400" dirty="0"/>
          </a:p>
        </p:txBody>
      </p:sp>
      <p:sp>
        <p:nvSpPr>
          <p:cNvPr id="43" name="Text 35"/>
          <p:cNvSpPr/>
          <p:nvPr/>
        </p:nvSpPr>
        <p:spPr>
          <a:xfrm>
            <a:off x="7269480" y="35204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Frontend UI &amp; async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web framework</a:t>
            </a:r>
            <a:endParaRPr lang="en-US" sz="1000" dirty="0"/>
          </a:p>
        </p:txBody>
      </p:sp>
      <p:sp>
        <p:nvSpPr>
          <p:cNvPr id="44" name="Shape 36"/>
          <p:cNvSpPr/>
          <p:nvPr/>
        </p:nvSpPr>
        <p:spPr>
          <a:xfrm>
            <a:off x="7269480" y="4114800"/>
            <a:ext cx="457200" cy="201168"/>
          </a:xfrm>
          <a:prstGeom prst="rect">
            <a:avLst/>
          </a:prstGeom>
          <a:solidFill>
            <a:srgbClr val="93B73A"/>
          </a:solidFill>
          <a:ln/>
        </p:spPr>
      </p:sp>
      <p:sp>
        <p:nvSpPr>
          <p:cNvPr id="45" name="Text 37"/>
          <p:cNvSpPr/>
          <p:nvPr/>
        </p:nvSpPr>
        <p:spPr>
          <a:xfrm>
            <a:off x="7269480" y="411480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OSS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 Overview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474720" y="1005840"/>
            <a:ext cx="2194560" cy="914400"/>
          </a:xfrm>
          <a:prstGeom prst="rect">
            <a:avLst/>
          </a:prstGeom>
          <a:solidFill>
            <a:srgbClr val="D96BA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11880" y="1234440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069080" y="111556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News Chief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069080" y="15361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:8080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40080" y="2377440"/>
            <a:ext cx="2194560" cy="914400"/>
          </a:xfrm>
          <a:prstGeom prst="rect">
            <a:avLst/>
          </a:prstGeom>
          <a:solidFill>
            <a:srgbClr val="5AA5DE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606040"/>
            <a:ext cx="411480" cy="411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34440" y="248716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Reporter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1234440" y="29077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:8081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3474720" y="2377440"/>
            <a:ext cx="2194560" cy="914400"/>
          </a:xfrm>
          <a:prstGeom prst="rect">
            <a:avLst/>
          </a:prstGeom>
          <a:solidFill>
            <a:srgbClr val="93B73A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880" y="2606040"/>
            <a:ext cx="411480" cy="411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069080" y="248716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Editor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4069080" y="29077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:8082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6309360" y="2377440"/>
            <a:ext cx="2194560" cy="914400"/>
          </a:xfrm>
          <a:prstGeom prst="rect">
            <a:avLst/>
          </a:prstGeom>
          <a:solidFill>
            <a:srgbClr val="6DC3BF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2606040"/>
            <a:ext cx="411480" cy="4114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903720" y="248716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Researcher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6903720" y="29077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:8083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3474720" y="3657600"/>
            <a:ext cx="2194560" cy="914400"/>
          </a:xfrm>
          <a:prstGeom prst="rect">
            <a:avLst/>
          </a:prstGeom>
          <a:solidFill>
            <a:srgbClr val="3D7FA3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1880" y="3886200"/>
            <a:ext cx="411480" cy="41148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069080" y="376732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Publisher</a:t>
            </a:r>
            <a:endParaRPr lang="en-US" sz="1400" dirty="0"/>
          </a:p>
        </p:txBody>
      </p:sp>
      <p:sp>
        <p:nvSpPr>
          <p:cNvPr id="22" name="Text 15"/>
          <p:cNvSpPr/>
          <p:nvPr/>
        </p:nvSpPr>
        <p:spPr>
          <a:xfrm>
            <a:off x="4069080" y="4187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:8084</a:t>
            </a:r>
            <a:endParaRPr lang="en-US" sz="1000" dirty="0"/>
          </a:p>
        </p:txBody>
      </p:sp>
      <p:sp>
        <p:nvSpPr>
          <p:cNvPr id="23" name="Shape 16"/>
          <p:cNvSpPr/>
          <p:nvPr/>
        </p:nvSpPr>
        <p:spPr>
          <a:xfrm>
            <a:off x="4572000" y="1920240"/>
            <a:ext cx="0" cy="457200"/>
          </a:xfrm>
          <a:prstGeom prst="line">
            <a:avLst/>
          </a:prstGeom>
          <a:noFill/>
          <a:ln w="25400">
            <a:solidFill>
              <a:srgbClr val="D96BA0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3474720" y="1645920"/>
            <a:ext cx="-1554480" cy="731520"/>
          </a:xfrm>
          <a:prstGeom prst="line">
            <a:avLst/>
          </a:prstGeom>
          <a:noFill/>
          <a:ln w="19050">
            <a:solidFill>
              <a:srgbClr val="E8CE2A"/>
            </a:solidFill>
            <a:prstDash val="dash"/>
          </a:ln>
        </p:spPr>
      </p:sp>
      <p:sp>
        <p:nvSpPr>
          <p:cNvPr id="25" name="Shape 18"/>
          <p:cNvSpPr/>
          <p:nvPr/>
        </p:nvSpPr>
        <p:spPr>
          <a:xfrm>
            <a:off x="5669280" y="1645920"/>
            <a:ext cx="1554480" cy="731520"/>
          </a:xfrm>
          <a:prstGeom prst="line">
            <a:avLst/>
          </a:prstGeom>
          <a:noFill/>
          <a:ln w="19050">
            <a:solidFill>
              <a:srgbClr val="E8CE2A"/>
            </a:solidFill>
            <a:prstDash val="dash"/>
          </a:ln>
        </p:spPr>
      </p:sp>
      <p:sp>
        <p:nvSpPr>
          <p:cNvPr id="26" name="Shape 19"/>
          <p:cNvSpPr/>
          <p:nvPr/>
        </p:nvSpPr>
        <p:spPr>
          <a:xfrm>
            <a:off x="2834640" y="2834640"/>
            <a:ext cx="3474720" cy="0"/>
          </a:xfrm>
          <a:prstGeom prst="line">
            <a:avLst/>
          </a:prstGeom>
          <a:noFill/>
          <a:ln w="19050">
            <a:solidFill>
              <a:srgbClr val="5AA5DE"/>
            </a:solidFill>
            <a:prstDash val="dash"/>
          </a:ln>
        </p:spPr>
      </p:sp>
      <p:sp>
        <p:nvSpPr>
          <p:cNvPr id="27" name="Shape 20"/>
          <p:cNvSpPr/>
          <p:nvPr/>
        </p:nvSpPr>
        <p:spPr>
          <a:xfrm>
            <a:off x="4572000" y="3291840"/>
            <a:ext cx="0" cy="365760"/>
          </a:xfrm>
          <a:prstGeom prst="line">
            <a:avLst/>
          </a:prstGeom>
          <a:noFill/>
          <a:ln w="25400">
            <a:solidFill>
              <a:srgbClr val="6DC3BF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640080" y="4709160"/>
            <a:ext cx="7863840" cy="320040"/>
          </a:xfrm>
          <a:prstGeom prst="rect">
            <a:avLst/>
          </a:prstGeom>
          <a:solidFill>
            <a:srgbClr val="1E2533"/>
          </a:solidFill>
          <a:ln/>
        </p:spPr>
      </p:sp>
      <p:sp>
        <p:nvSpPr>
          <p:cNvPr id="29" name="Text 22"/>
          <p:cNvSpPr/>
          <p:nvPr/>
        </p:nvSpPr>
        <p:spPr>
          <a:xfrm>
            <a:off x="640080" y="47091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MCP Server :8095   ·   Event Hub (SSE) :8090   ·   Article API :8085   ·   React UI :3001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3B73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A2A Protocol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Agent-to-Agent Communication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 Cards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1508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Self-describing JSON manifests with skills, capabilities, and transport preferences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9476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JSON-RPC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222199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Standardized request/response between agents over HTTP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6609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Task Model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293522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InMemoryTaskStore tracks state transitions across the workflow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337413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Discovery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364845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Agents find each other by fetching /.well-known/agent.json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274320"/>
            <a:ext cx="4023360" cy="320040"/>
          </a:xfrm>
          <a:prstGeom prst="rect">
            <a:avLst/>
          </a:prstGeom>
          <a:solidFill>
            <a:srgbClr val="2A2A3C"/>
          </a:solidFill>
          <a:ln/>
        </p:spPr>
      </p:sp>
      <p:sp>
        <p:nvSpPr>
          <p:cNvPr id="14" name="Shape 12"/>
          <p:cNvSpPr/>
          <p:nvPr/>
        </p:nvSpPr>
        <p:spPr>
          <a:xfrm>
            <a:off x="4892040" y="384048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5" name="Shape 13"/>
          <p:cNvSpPr/>
          <p:nvPr/>
        </p:nvSpPr>
        <p:spPr>
          <a:xfrm>
            <a:off x="5074920" y="384048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6" name="Shape 14"/>
          <p:cNvSpPr/>
          <p:nvPr/>
        </p:nvSpPr>
        <p:spPr>
          <a:xfrm>
            <a:off x="5257800" y="384048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0" y="2743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agent_card.py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54880" y="594360"/>
            <a:ext cx="4023360" cy="356616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731520"/>
            <a:ext cx="3657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AgentCard(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name="Reporter",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url="http://localhost:8081",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version="1.0.0",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capabilities=AgentCapabilities(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streaming=False,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state_transition_history=True,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max_concurrent_tasks=20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skills=[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AgentSkill(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  id="write_article",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  name="Write Article",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  tags=["writing", "research"]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" y="4434840"/>
            <a:ext cx="8138160" cy="411480"/>
          </a:xfrm>
          <a:prstGeom prst="rect">
            <a:avLst/>
          </a:prstGeom>
          <a:solidFill>
            <a:srgbClr val="2D3748"/>
          </a:solidFill>
          <a:ln/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4498848"/>
            <a:ext cx="256032" cy="256032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188720" y="44348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A2A SDK — github.com/a2aproject/a2a-python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MCP — Model Context Protocol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single FastMCP server exposes shared tools that any agent can call.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2560320" cy="10972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371600"/>
            <a:ext cx="2560320" cy="54864"/>
          </a:xfrm>
          <a:prstGeom prst="rect">
            <a:avLst/>
          </a:prstGeom>
          <a:solidFill>
            <a:srgbClr val="D96BA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research_topic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1920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Tavily search + Claude synthesis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74720" y="1371600"/>
            <a:ext cx="2560320" cy="10972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3474720" y="1371600"/>
            <a:ext cx="2560320" cy="54864"/>
          </a:xfrm>
          <a:prstGeom prst="rect">
            <a:avLst/>
          </a:prstGeom>
          <a:solidFill>
            <a:srgbClr val="E8CE2A"/>
          </a:solidFill>
          <a:ln/>
        </p:spPr>
      </p:sp>
      <p:sp>
        <p:nvSpPr>
          <p:cNvPr id="10" name="Text 8"/>
          <p:cNvSpPr/>
          <p:nvPr/>
        </p:nvSpPr>
        <p:spPr>
          <a:xfrm>
            <a:off x="3611880" y="1554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generate_outline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11880" y="1920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Structured story outline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309360" y="1371600"/>
            <a:ext cx="2560320" cy="10972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6309360" y="1371600"/>
            <a:ext cx="2560320" cy="54864"/>
          </a:xfrm>
          <a:prstGeom prst="rect">
            <a:avLst/>
          </a:prstGeom>
          <a:solidFill>
            <a:srgbClr val="93B73A"/>
          </a:solidFill>
          <a:ln/>
        </p:spPr>
      </p:sp>
      <p:sp>
        <p:nvSpPr>
          <p:cNvPr id="14" name="Text 12"/>
          <p:cNvSpPr/>
          <p:nvPr/>
        </p:nvSpPr>
        <p:spPr>
          <a:xfrm>
            <a:off x="6446520" y="1554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write_article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46520" y="1920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article from research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2743200"/>
            <a:ext cx="2560320" cy="10972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" y="2743200"/>
            <a:ext cx="2560320" cy="54864"/>
          </a:xfrm>
          <a:prstGeom prst="rect">
            <a:avLst/>
          </a:prstGeom>
          <a:solidFill>
            <a:srgbClr val="6DC3BF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29260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review_article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7240" y="3291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Grammar &amp; tone review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474720" y="2743200"/>
            <a:ext cx="2560320" cy="10972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3474720" y="2743200"/>
            <a:ext cx="2560320" cy="54864"/>
          </a:xfrm>
          <a:prstGeom prst="rect">
            <a:avLst/>
          </a:prstGeom>
          <a:solidFill>
            <a:srgbClr val="5AA5DE"/>
          </a:solidFill>
          <a:ln/>
        </p:spPr>
      </p:sp>
      <p:sp>
        <p:nvSpPr>
          <p:cNvPr id="22" name="Text 20"/>
          <p:cNvSpPr/>
          <p:nvPr/>
        </p:nvSpPr>
        <p:spPr>
          <a:xfrm>
            <a:off x="3611880" y="29260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generate_tags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11880" y="3291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AI-generated tags &amp; categories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309360" y="2743200"/>
            <a:ext cx="2560320" cy="10972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6309360" y="2743200"/>
            <a:ext cx="2560320" cy="54864"/>
          </a:xfrm>
          <a:prstGeom prst="rect">
            <a:avLst/>
          </a:prstGeom>
          <a:solidFill>
            <a:srgbClr val="3D7FA3"/>
          </a:solidFill>
          <a:ln/>
        </p:spPr>
      </p:sp>
      <p:sp>
        <p:nvSpPr>
          <p:cNvPr id="26" name="Text 24"/>
          <p:cNvSpPr/>
          <p:nvPr/>
        </p:nvSpPr>
        <p:spPr>
          <a:xfrm>
            <a:off x="6446520" y="29260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extract_sources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46520" y="3291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 URLs from research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40080" y="4434840"/>
            <a:ext cx="8138160" cy="411480"/>
          </a:xfrm>
          <a:prstGeom prst="rect">
            <a:avLst/>
          </a:prstGeom>
          <a:solidFill>
            <a:srgbClr val="2D3748"/>
          </a:solidFill>
          <a:ln/>
        </p:spPr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4498848"/>
            <a:ext cx="256032" cy="256032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1188720" y="44348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FastMCP — github.com/jlowin/fastmcp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solidFill>
            <a:srgbClr val="2A2A3C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393192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393192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393192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6" name="Text 4"/>
          <p:cNvSpPr/>
          <p:nvPr/>
        </p:nvSpPr>
        <p:spPr>
          <a:xfrm>
            <a:off x="1280160" y="27432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mcp_servers/newsroom_tools.py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640080"/>
            <a:ext cx="8229600" cy="411480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777240"/>
            <a:ext cx="77724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from fastmcp import FastMCP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mcp = FastMCP("newsroom-tools")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@mcp.tool()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async def research_topic(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topic: str, questions: list[str],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max_results: int = 5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) -&gt; dict: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"""Research a topic using Tavily web search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and synthesize findings with Claude."""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# Search with Tavily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results = await tavily_client.search(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    query=topic, max_results=max_results,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    search_depth="advanced"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# Synthesize with Claude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synthesis = await anthropic.messages.create(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    model="claude-sonnet-4-6",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    messages=[{"role": "user",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               "content": format_research(results)}]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return {"sources": results, "synthesis": synthesis}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5AA5D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2860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228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Elasticsearch — Indexing &amp; Storage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640080" y="11887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30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31-Field Rich Mapping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005840" y="14630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Structured metadata with nested research_sources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40080" y="20574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30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semantic_text Fields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05840" y="23317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Automatic embeddings via copy_to — no pipeline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40080" y="29260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30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Bulk Indexing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005840" y="32004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elasticsearch.helpers.bulk with refresh='wait_for'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40080" y="37947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30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ILM Policies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005840" y="40690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Hot → Warm → Cold lifecycle management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846320" y="1005840"/>
            <a:ext cx="3931920" cy="320040"/>
          </a:xfrm>
          <a:prstGeom prst="rect">
            <a:avLst/>
          </a:prstGeom>
          <a:solidFill>
            <a:srgbClr val="2A2A3C"/>
          </a:solidFill>
          <a:ln/>
        </p:spPr>
      </p:sp>
      <p:sp>
        <p:nvSpPr>
          <p:cNvPr id="14" name="Shape 11"/>
          <p:cNvSpPr/>
          <p:nvPr/>
        </p:nvSpPr>
        <p:spPr>
          <a:xfrm>
            <a:off x="4983480" y="1115568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5" name="Shape 12"/>
          <p:cNvSpPr/>
          <p:nvPr/>
        </p:nvSpPr>
        <p:spPr>
          <a:xfrm>
            <a:off x="5138928" y="1115568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6" name="Shape 13"/>
          <p:cNvSpPr/>
          <p:nvPr/>
        </p:nvSpPr>
        <p:spPr>
          <a:xfrm>
            <a:off x="5294376" y="1115568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7" name="Text 14"/>
          <p:cNvSpPr/>
          <p:nvPr/>
        </p:nvSpPr>
        <p:spPr>
          <a:xfrm>
            <a:off x="5486400" y="10058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index-mapping.json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846320" y="1325880"/>
            <a:ext cx="3931920" cy="352044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19" name="Text 16"/>
          <p:cNvSpPr/>
          <p:nvPr/>
        </p:nvSpPr>
        <p:spPr>
          <a:xfrm>
            <a:off x="5029200" y="1417320"/>
            <a:ext cx="3566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"mappings":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"properties":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  "headline":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    "type": "text",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    "copy_to": "headline_semantic"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  },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  "headline_semantic":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    "type": "semantic_text"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  },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  "content":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    "type": "text",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    "copy_to": "content_semantic"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  },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  "content_semantic":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    "type": "semantic_text"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  },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  "research_sources":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    "type": "nested",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    "properties":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      "title": {"type": "text"},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      "url": {"type": "keyword"}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   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 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}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DC3B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2860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228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Elasticsearch — Three Search Modes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640080" y="1097280"/>
            <a:ext cx="2560320" cy="457200"/>
          </a:xfrm>
          <a:prstGeom prst="rect">
            <a:avLst/>
          </a:prstGeom>
          <a:solidFill>
            <a:srgbClr val="D96BA0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10972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Keyword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31520" y="16459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multi_match with field boosting and fuzziness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474720" y="1097280"/>
            <a:ext cx="2560320" cy="457200"/>
          </a:xfrm>
          <a:prstGeom prst="rect">
            <a:avLst/>
          </a:prstGeom>
          <a:solidFill>
            <a:srgbClr val="93B73A"/>
          </a:solidFill>
          <a:ln/>
        </p:spPr>
      </p:sp>
      <p:sp>
        <p:nvSpPr>
          <p:cNvPr id="9" name="Text 6"/>
          <p:cNvSpPr/>
          <p:nvPr/>
        </p:nvSpPr>
        <p:spPr>
          <a:xfrm>
            <a:off x="3474720" y="10972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Semantic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566160" y="16459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Natural language via semantic_text with auto embeddings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309360" y="1097280"/>
            <a:ext cx="2560320" cy="457200"/>
          </a:xfrm>
          <a:prstGeom prst="rect">
            <a:avLst/>
          </a:prstGeom>
          <a:solidFill>
            <a:srgbClr val="5AA5DE"/>
          </a:solidFill>
          <a:ln/>
        </p:spPr>
      </p:sp>
      <p:sp>
        <p:nvSpPr>
          <p:cNvPr id="12" name="Text 9"/>
          <p:cNvSpPr/>
          <p:nvPr/>
        </p:nvSpPr>
        <p:spPr>
          <a:xfrm>
            <a:off x="6309360" y="10972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Hybrid (RRF)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400800" y="16459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Combines both using Reciprocal Rank Fusion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40080" y="2468880"/>
            <a:ext cx="7863840" cy="320040"/>
          </a:xfrm>
          <a:prstGeom prst="rect">
            <a:avLst/>
          </a:prstGeom>
          <a:solidFill>
            <a:srgbClr val="2A2A3C"/>
          </a:solidFill>
          <a:ln/>
        </p:spPr>
      </p:sp>
      <p:sp>
        <p:nvSpPr>
          <p:cNvPr id="15" name="Shape 12"/>
          <p:cNvSpPr/>
          <p:nvPr/>
        </p:nvSpPr>
        <p:spPr>
          <a:xfrm>
            <a:off x="777240" y="2578608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6" name="Shape 13"/>
          <p:cNvSpPr/>
          <p:nvPr/>
        </p:nvSpPr>
        <p:spPr>
          <a:xfrm>
            <a:off x="932688" y="2578608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7" name="Shape 14"/>
          <p:cNvSpPr/>
          <p:nvPr/>
        </p:nvSpPr>
        <p:spPr>
          <a:xfrm>
            <a:off x="1088136" y="2578608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8" name="Text 15"/>
          <p:cNvSpPr/>
          <p:nvPr/>
        </p:nvSpPr>
        <p:spPr>
          <a:xfrm>
            <a:off x="1280160" y="246888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hybrid_search.py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640080" y="2788920"/>
            <a:ext cx="7863840" cy="201168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20" name="Text 17"/>
          <p:cNvSpPr/>
          <p:nvPr/>
        </p:nvSpPr>
        <p:spPr>
          <a:xfrm>
            <a:off x="822960" y="2880360"/>
            <a:ext cx="7498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response = es_client.search(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index="news_archive",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sub_searches=[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    {"query": {"multi_match":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        "query": q, "fields": ["headline^3", "content", "topic^2"],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        "fuzziness": "AUTO"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    }}},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    {"query": {"semantic": {"field": "content_semantic", "query": q}}}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],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rank={"rrf": {"window_size": 50, "rank_constant": 20}},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size=limit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)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End-to-End Workflow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874520" cy="1097280"/>
          </a:xfrm>
          <a:prstGeom prst="rect">
            <a:avLst/>
          </a:prstGeom>
          <a:solidFill>
            <a:srgbClr val="D96BA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submits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topic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331720" y="13716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96B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606040" y="1097280"/>
            <a:ext cx="1874520" cy="1097280"/>
          </a:xfrm>
          <a:prstGeom prst="rect">
            <a:avLst/>
          </a:prstGeom>
          <a:solidFill>
            <a:srgbClr val="E8CE2A"/>
          </a:solidFill>
          <a:ln/>
        </p:spPr>
      </p:sp>
      <p:sp>
        <p:nvSpPr>
          <p:cNvPr id="7" name="Text 5"/>
          <p:cNvSpPr/>
          <p:nvPr/>
        </p:nvSpPr>
        <p:spPr>
          <a:xfrm>
            <a:off x="2606040" y="1097280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News Chief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assigns story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80560" y="13716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96B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1874520" cy="1097280"/>
          </a:xfrm>
          <a:prstGeom prst="rect">
            <a:avLst/>
          </a:prstGeom>
          <a:solidFill>
            <a:srgbClr val="93B73A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1097280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outlines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629400" y="13716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96B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903720" y="1097280"/>
            <a:ext cx="1874520" cy="1097280"/>
          </a:xfrm>
          <a:prstGeom prst="rect">
            <a:avLst/>
          </a:prstGeom>
          <a:solidFill>
            <a:srgbClr val="6DC3BF"/>
          </a:solidFill>
          <a:ln/>
        </p:spPr>
      </p:sp>
      <p:sp>
        <p:nvSpPr>
          <p:cNvPr id="13" name="Text 11"/>
          <p:cNvSpPr/>
          <p:nvPr/>
        </p:nvSpPr>
        <p:spPr>
          <a:xfrm>
            <a:off x="6903720" y="1097280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Researcher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Archivist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58952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D96B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5212080" y="2834640"/>
            <a:ext cx="1874520" cy="1097280"/>
          </a:xfrm>
          <a:prstGeom prst="rect">
            <a:avLst/>
          </a:prstGeom>
          <a:solidFill>
            <a:srgbClr val="5AA5DE"/>
          </a:solidFill>
          <a:ln/>
        </p:spPr>
      </p:sp>
      <p:sp>
        <p:nvSpPr>
          <p:cNvPr id="16" name="Text 14"/>
          <p:cNvSpPr/>
          <p:nvPr/>
        </p:nvSpPr>
        <p:spPr>
          <a:xfrm>
            <a:off x="5212080" y="2834640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writes article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31089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96B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←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3063240" y="2834640"/>
            <a:ext cx="1874520" cy="1097280"/>
          </a:xfrm>
          <a:prstGeom prst="rect">
            <a:avLst/>
          </a:prstGeom>
          <a:solidFill>
            <a:srgbClr val="3D7FA3"/>
          </a:solidFill>
          <a:ln/>
        </p:spPr>
      </p:sp>
      <p:sp>
        <p:nvSpPr>
          <p:cNvPr id="19" name="Text 17"/>
          <p:cNvSpPr/>
          <p:nvPr/>
        </p:nvSpPr>
        <p:spPr>
          <a:xfrm>
            <a:off x="3063240" y="2834640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Editor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reviews draft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788920" y="31089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96B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←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914400" y="2834640"/>
            <a:ext cx="1874520" cy="1097280"/>
          </a:xfrm>
          <a:prstGeom prst="rect">
            <a:avLst/>
          </a:prstGeom>
          <a:solidFill>
            <a:srgbClr val="E8CE2A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2834640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Publisher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indexes to 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4206240"/>
            <a:ext cx="7863840" cy="548640"/>
          </a:xfrm>
          <a:prstGeom prst="rect">
            <a:avLst/>
          </a:prstGeom>
          <a:solidFill>
            <a:srgbClr val="1E2533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420624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DC3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SSE events stream to React UI at every step — users watch the article being built live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solidFill>
            <a:srgbClr val="2A2A3C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393192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393192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393192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6" name="Text 4"/>
          <p:cNvSpPr/>
          <p:nvPr/>
        </p:nvSpPr>
        <p:spPr>
          <a:xfrm>
            <a:off x="1280160" y="27432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agents/news_chief.py — Dispatching via A2A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640080"/>
            <a:ext cx="8229600" cy="411480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777240"/>
            <a:ext cx="77724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class NewsChiefAgent(BaseAgent):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async def _assign_story(self, request):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    story_id = f"story_{datetime.now().strftime('%Y%m%d_%H%M%S')}"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    # Step 1: Send to Reporter via A2A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    reporter_result = await self._send_to_agent(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        agent_url="http://localhost:8081",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        message=json.dumps({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            "action": "write_article",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            "assignment": {"story_id": story_id,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                           "topic": topic}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        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    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    # Step 2: Send draft to Editor for review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    editor_result = await self._send_to_agent(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        agent_url="http://localhost:8082",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        message=json.dumps({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            "action": "review_draft",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            "draft": reporter_result["article"]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        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    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    # Step 3: Publish via Publisher on :8084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    await self._send_to_agent(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        PUBLISHER_URL, json.dumps({"action": "publish", ...})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    )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D7FA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Archivist — Elastic Cloud A2A Agent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with Elastic Agent Builder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Reporter generates research questions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Researcher + Archivist queried in parallel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6974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Archivist searches Elastic Cloud index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32004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 merged into Reporter's context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8404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 A2A-compatible agents directly from your Elastic Cloud cluster.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46320" y="1005840"/>
            <a:ext cx="3931920" cy="320040"/>
          </a:xfrm>
          <a:prstGeom prst="rect">
            <a:avLst/>
          </a:prstGeom>
          <a:solidFill>
            <a:srgbClr val="2A2A3C"/>
          </a:solidFill>
          <a:ln/>
        </p:spPr>
      </p:sp>
      <p:sp>
        <p:nvSpPr>
          <p:cNvPr id="11" name="Shape 9"/>
          <p:cNvSpPr/>
          <p:nvPr/>
        </p:nvSpPr>
        <p:spPr>
          <a:xfrm>
            <a:off x="4983480" y="1115568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2" name="Shape 10"/>
          <p:cNvSpPr/>
          <p:nvPr/>
        </p:nvSpPr>
        <p:spPr>
          <a:xfrm>
            <a:off x="5138928" y="1115568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3" name="Shape 11"/>
          <p:cNvSpPr/>
          <p:nvPr/>
        </p:nvSpPr>
        <p:spPr>
          <a:xfrm>
            <a:off x="5294376" y="1115568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0" y="10058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parallel_research.py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846320" y="1325880"/>
            <a:ext cx="3931920" cy="324612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0" y="1417320"/>
            <a:ext cx="3566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# Reporter dispatches in parallel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research_task = asyncio.create_task(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self._send_to_agent(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    RESEARCHER_URL,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    {"action": "research",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     "questions": questions}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archive_task = asyncio.create_task(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self._send_to_agent(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    ARCHIVIST_URL,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    {"action": "search",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     "queries": questions}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research, archive = await asyncio.gather(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research_task, archive_task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)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UI with Server-Sent Events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10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 publishes event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" y="12344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POSTs to Event Hub after key actions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383280" y="10058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10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Event Hub broadcasts via SSE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703320" y="12344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Starlette streams to all clients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126480" y="10058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10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UI renders live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46520" y="12344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Workflow updates in real-time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40080" y="1737360"/>
            <a:ext cx="7863840" cy="320040"/>
          </a:xfrm>
          <a:prstGeom prst="rect">
            <a:avLst/>
          </a:prstGeom>
          <a:solidFill>
            <a:srgbClr val="2A2A3C"/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" y="1847088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1" name="Shape 9"/>
          <p:cNvSpPr/>
          <p:nvPr/>
        </p:nvSpPr>
        <p:spPr>
          <a:xfrm>
            <a:off x="932688" y="1847088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2" name="Shape 10"/>
          <p:cNvSpPr/>
          <p:nvPr/>
        </p:nvSpPr>
        <p:spPr>
          <a:xfrm>
            <a:off x="1088136" y="1847088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3" name="Text 11"/>
          <p:cNvSpPr/>
          <p:nvPr/>
        </p:nvSpPr>
        <p:spPr>
          <a:xfrm>
            <a:off x="1280160" y="173736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base_agent.py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40080" y="2057400"/>
            <a:ext cx="7863840" cy="278892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2148840"/>
            <a:ext cx="74980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# BaseAgent._publish_event()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async def _publish_event(self, event_type, story_id, data):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payload =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    "event_type": event_type,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    "story_id": story_id,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    "agent": self.__class__.__name__,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    "timestamp": datetime.now().isoformat(),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    "data": data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async with httpx.AsyncClient() as client: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    await client.post(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        EVENT_HUB_URL + "/events/publish", json=payload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    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# Event types: story_assigned, outline_generated,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# research_completed, article_written,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# review_completed, article_published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E8CE2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Testing &amp; Observability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051560"/>
            <a:ext cx="3840480" cy="411480"/>
          </a:xfrm>
          <a:prstGeom prst="rect">
            <a:avLst/>
          </a:prstGeom>
          <a:solidFill>
            <a:srgbClr val="D96BA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515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155448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mock suite — no API keys needed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MockElasticsearch with ES 9.x keyword args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Mock Anthropic, Tavily, bulk helpers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Pytest with async support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make test runs everything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051560"/>
            <a:ext cx="3840480" cy="411480"/>
          </a:xfrm>
          <a:prstGeom prst="rect">
            <a:avLst/>
          </a:prstGeom>
          <a:solidFill>
            <a:srgbClr val="3D7FA3"/>
          </a:solidFill>
          <a:ln/>
        </p:spPr>
      </p:sp>
      <p:sp>
        <p:nvSpPr>
          <p:cNvPr id="8" name="Text 6"/>
          <p:cNvSpPr/>
          <p:nvPr/>
        </p:nvSpPr>
        <p:spPr>
          <a:xfrm>
            <a:off x="4663440" y="10515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Structured Logging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46320" y="155448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LOG_FORMAT=json for production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Per-agent colored console output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 name in every log line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ELK / Datadog / CloudWatch compatible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%-style formatting (no f-strings in logs)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474720"/>
            <a:ext cx="7863840" cy="274320"/>
          </a:xfrm>
          <a:prstGeom prst="rect">
            <a:avLst/>
          </a:prstGeom>
          <a:solidFill>
            <a:srgbClr val="2A2A3C"/>
          </a:solidFill>
          <a:ln/>
        </p:spPr>
      </p:sp>
      <p:sp>
        <p:nvSpPr>
          <p:cNvPr id="11" name="Shape 9"/>
          <p:cNvSpPr/>
          <p:nvPr/>
        </p:nvSpPr>
        <p:spPr>
          <a:xfrm>
            <a:off x="777240" y="3547872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2" name="Shape 10"/>
          <p:cNvSpPr/>
          <p:nvPr/>
        </p:nvSpPr>
        <p:spPr>
          <a:xfrm>
            <a:off x="932688" y="3547872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3" name="Shape 11"/>
          <p:cNvSpPr/>
          <p:nvPr/>
        </p:nvSpPr>
        <p:spPr>
          <a:xfrm>
            <a:off x="1088136" y="3547872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4" name="Text 12"/>
          <p:cNvSpPr/>
          <p:nvPr/>
        </p:nvSpPr>
        <p:spPr>
          <a:xfrm>
            <a:off x="1280160" y="347472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stdout (LOG_FORMAT=json)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40080" y="3749040"/>
            <a:ext cx="7863840" cy="73152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79476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{"timestamp":"2026-04-21T10:30:45","level":"INFO",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"agent":"REPORTER","message":"Article written: story=story_20260421 words=1023"}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93B7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Lessons Learned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50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Specialization &gt; Generalization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05840" y="141732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Five focused agents beat one do-everything LLM call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84708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50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A2A makes agents composable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" y="216712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Swap any agent without touching the rest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5968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50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MCP centralizes tool logic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2916936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tool server — consistent behavior, no duplication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34670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50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semantic_text is magic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05840" y="3666744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Elasticsearch handles embeddings automatically — zero pipeline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409651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50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SSE keeps users engaged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05840" y="441655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Watching the workflow live turns a wait into an experience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D37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D96BA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37160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24688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 &amp; A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4114800" y="1371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Justin Castilla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114800" y="1828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justincastilla@gmail.com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114800" y="2377440"/>
            <a:ext cx="3657600" cy="0"/>
          </a:xfrm>
          <a:prstGeom prst="line">
            <a:avLst/>
          </a:prstGeom>
          <a:noFill/>
          <a:ln w="25400">
            <a:solidFill>
              <a:srgbClr val="D96BA0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2651760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480560" y="26517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6BA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github.com/elastic/elastic-newsroom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4114800" y="3200400"/>
            <a:ext cx="1188720" cy="320040"/>
          </a:xfrm>
          <a:prstGeom prst="rect">
            <a:avLst/>
          </a:prstGeom>
          <a:solidFill>
            <a:srgbClr val="D96BA0"/>
          </a:solidFill>
          <a:ln/>
        </p:spPr>
      </p:sp>
      <p:sp>
        <p:nvSpPr>
          <p:cNvPr id="11" name="Text 7"/>
          <p:cNvSpPr/>
          <p:nvPr/>
        </p:nvSpPr>
        <p:spPr>
          <a:xfrm>
            <a:off x="4114800" y="32004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A2A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5486400" y="3200400"/>
            <a:ext cx="1188720" cy="320040"/>
          </a:xfrm>
          <a:prstGeom prst="rect">
            <a:avLst/>
          </a:prstGeom>
          <a:solidFill>
            <a:srgbClr val="E8CE2A"/>
          </a:solidFill>
          <a:ln/>
        </p:spPr>
      </p:sp>
      <p:sp>
        <p:nvSpPr>
          <p:cNvPr id="13" name="Text 9"/>
          <p:cNvSpPr/>
          <p:nvPr/>
        </p:nvSpPr>
        <p:spPr>
          <a:xfrm>
            <a:off x="5486400" y="32004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FastMCP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858000" y="3200400"/>
            <a:ext cx="1188720" cy="320040"/>
          </a:xfrm>
          <a:prstGeom prst="rect">
            <a:avLst/>
          </a:prstGeom>
          <a:solidFill>
            <a:srgbClr val="93B73A"/>
          </a:solidFill>
          <a:ln/>
        </p:spPr>
      </p:sp>
      <p:sp>
        <p:nvSpPr>
          <p:cNvPr id="15" name="Text 11"/>
          <p:cNvSpPr/>
          <p:nvPr/>
        </p:nvSpPr>
        <p:spPr>
          <a:xfrm>
            <a:off x="6858000" y="32004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Tavily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114800" y="3657600"/>
            <a:ext cx="1188720" cy="320040"/>
          </a:xfrm>
          <a:prstGeom prst="rect">
            <a:avLst/>
          </a:prstGeom>
          <a:solidFill>
            <a:srgbClr val="6DC3BF"/>
          </a:solidFill>
          <a:ln/>
        </p:spPr>
      </p:sp>
      <p:sp>
        <p:nvSpPr>
          <p:cNvPr id="17" name="Text 13"/>
          <p:cNvSpPr/>
          <p:nvPr/>
        </p:nvSpPr>
        <p:spPr>
          <a:xfrm>
            <a:off x="4114800" y="36576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Elasticsearch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5486400" y="3657600"/>
            <a:ext cx="1188720" cy="320040"/>
          </a:xfrm>
          <a:prstGeom prst="rect">
            <a:avLst/>
          </a:prstGeom>
          <a:solidFill>
            <a:srgbClr val="5AA5DE"/>
          </a:solidFill>
          <a:ln/>
        </p:spPr>
      </p:sp>
      <p:sp>
        <p:nvSpPr>
          <p:cNvPr id="19" name="Text 15"/>
          <p:cNvSpPr/>
          <p:nvPr/>
        </p:nvSpPr>
        <p:spPr>
          <a:xfrm>
            <a:off x="5486400" y="36576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6858000" y="3657600"/>
            <a:ext cx="1188720" cy="320040"/>
          </a:xfrm>
          <a:prstGeom prst="rect">
            <a:avLst/>
          </a:prstGeom>
          <a:solidFill>
            <a:srgbClr val="3D7FA3"/>
          </a:solidFill>
          <a:ln/>
        </p:spPr>
      </p:sp>
      <p:sp>
        <p:nvSpPr>
          <p:cNvPr id="21" name="Text 17"/>
          <p:cNvSpPr/>
          <p:nvPr/>
        </p:nvSpPr>
        <p:spPr>
          <a:xfrm>
            <a:off x="6858000" y="36576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an AI Newsroom with Multi-Agent Architecture</dc:title>
  <dc:subject>PptxGenJS Presentation</dc:subject>
  <dc:creator>Justin Castilla</dc:creator>
  <cp:lastModifiedBy>Justin Castilla</cp:lastModifiedBy>
  <cp:revision>1</cp:revision>
  <dcterms:created xsi:type="dcterms:W3CDTF">2026-04-22T23:13:47Z</dcterms:created>
  <dcterms:modified xsi:type="dcterms:W3CDTF">2026-04-22T23:13:47Z</dcterms:modified>
</cp:coreProperties>
</file>